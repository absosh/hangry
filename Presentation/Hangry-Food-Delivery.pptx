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814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4630400" cy="8229600"/>
  <p:notesSz cx="8229600" cy="14630400"/>
  <p:embeddedFontLst>
    <p:embeddedFont>
      <p:font typeface="Calisto MT" panose="02040603050505030304" pitchFamily="18" charset="0"/>
      <p:regular r:id="rId12"/>
      <p:bold r:id="rId13"/>
      <p:italic r:id="rId14"/>
      <p:boldItalic r:id="rId15"/>
    </p:embeddedFont>
    <p:embeddedFont>
      <p:font typeface="Cascadia Code Light" panose="020B0609020000020004" pitchFamily="49" charset="0"/>
      <p:regular r:id="rId16"/>
      <p:italic r:id="rId17"/>
    </p:embeddedFont>
    <p:embeddedFont>
      <p:font typeface="Mukta Light" panose="020B0604020202020204" charset="0"/>
      <p:regular r:id="rId18"/>
    </p:embeddedFont>
    <p:embeddedFont>
      <p:font typeface="Prompt Medium" panose="00000600000000000000" pitchFamily="2" charset="-34"/>
      <p:regular r:id="rId19"/>
    </p:embeddedFont>
    <p:embeddedFont>
      <p:font typeface="Wingdings 2" panose="05020102010507070707" pitchFamily="18" charset="2"/>
      <p:regular r:id="rId20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66" d="100"/>
          <a:sy n="66" d="100"/>
        </p:scale>
        <p:origin x="792" y="1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313309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44832" y="2123449"/>
            <a:ext cx="11328041" cy="2194561"/>
          </a:xfrm>
        </p:spPr>
        <p:txBody>
          <a:bodyPr anchor="b">
            <a:normAutofit/>
          </a:bodyPr>
          <a:lstStyle>
            <a:lvl1pPr algn="ctr">
              <a:defRPr sz="64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44832" y="4318008"/>
            <a:ext cx="11328041" cy="1259840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5486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972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6459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1945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2918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840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3891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12/15/2024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7844797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12/15/2024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3581215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54481" y="2113281"/>
            <a:ext cx="11508660" cy="2194576"/>
          </a:xfrm>
        </p:spPr>
        <p:txBody>
          <a:bodyPr anchor="b"/>
          <a:lstStyle>
            <a:lvl1pPr algn="ctr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54481" y="4307855"/>
            <a:ext cx="11508660" cy="1808465"/>
          </a:xfrm>
        </p:spPr>
        <p:txBody>
          <a:bodyPr anchor="t"/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54864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12/15/2024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1390825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6555" y="2078939"/>
            <a:ext cx="6072596" cy="4870500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443471" y="2078940"/>
            <a:ext cx="6077598" cy="487050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12/15/2024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2474907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554" y="2081408"/>
            <a:ext cx="6106886" cy="4978523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14182" y="2081408"/>
            <a:ext cx="6106886" cy="497852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07046" y="2202305"/>
            <a:ext cx="5851613" cy="653861"/>
          </a:xfrm>
        </p:spPr>
        <p:txBody>
          <a:bodyPr anchor="b">
            <a:noAutofit/>
          </a:bodyPr>
          <a:lstStyle>
            <a:lvl1pPr marL="0" indent="0" algn="ctr">
              <a:buNone/>
              <a:defRPr sz="2880" b="0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07046" y="2856165"/>
            <a:ext cx="5851613" cy="4093276"/>
          </a:xfrm>
        </p:spPr>
        <p:txBody>
          <a:bodyPr anchor="t">
            <a:normAutofit/>
          </a:bodyPr>
          <a:lstStyle>
            <a:lvl1pPr>
              <a:defRPr sz="2160"/>
            </a:lvl1pPr>
            <a:lvl2pPr>
              <a:defRPr sz="1920"/>
            </a:lvl2pPr>
            <a:lvl3pPr>
              <a:defRPr sz="1680"/>
            </a:lvl3pPr>
            <a:lvl4pPr>
              <a:defRPr sz="1440"/>
            </a:lvl4pPr>
            <a:lvl5pPr>
              <a:defRPr sz="144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53960" y="2202305"/>
            <a:ext cx="5874396" cy="653860"/>
          </a:xfrm>
        </p:spPr>
        <p:txBody>
          <a:bodyPr anchor="b">
            <a:noAutofit/>
          </a:bodyPr>
          <a:lstStyle>
            <a:lvl1pPr marL="0" indent="0" algn="ctr">
              <a:buNone/>
              <a:defRPr sz="2880" b="0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553960" y="2856165"/>
            <a:ext cx="5874396" cy="4093276"/>
          </a:xfrm>
        </p:spPr>
        <p:txBody>
          <a:bodyPr anchor="t">
            <a:normAutofit/>
          </a:bodyPr>
          <a:lstStyle>
            <a:lvl1pPr>
              <a:defRPr sz="2160"/>
            </a:lvl1pPr>
            <a:lvl2pPr>
              <a:defRPr sz="1920"/>
            </a:lvl2pPr>
            <a:lvl3pPr>
              <a:defRPr sz="1680"/>
            </a:lvl3pPr>
            <a:lvl4pPr>
              <a:defRPr sz="1440"/>
            </a:lvl4pPr>
            <a:lvl5pPr>
              <a:defRPr sz="144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12/15/2024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6398465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12/15/2024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5688331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12/15/2024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4665326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6555" y="731520"/>
            <a:ext cx="4448267" cy="2186302"/>
          </a:xfrm>
        </p:spPr>
        <p:txBody>
          <a:bodyPr anchor="b">
            <a:normAutofit/>
          </a:bodyPr>
          <a:lstStyle>
            <a:lvl1pPr algn="ctr">
              <a:defRPr sz="288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26760" y="731520"/>
            <a:ext cx="7694309" cy="621792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6555" y="2917822"/>
            <a:ext cx="4448267" cy="4031617"/>
          </a:xfrm>
        </p:spPr>
        <p:txBody>
          <a:bodyPr anchor="t">
            <a:normAutofit/>
          </a:bodyPr>
          <a:lstStyle>
            <a:lvl1pPr marL="0" indent="0" algn="ctr">
              <a:buNone/>
              <a:defRPr sz="192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12/15/2024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7755486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52398" y="731520"/>
            <a:ext cx="4300999" cy="624579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6555" y="731907"/>
            <a:ext cx="7121939" cy="2195206"/>
          </a:xfrm>
        </p:spPr>
        <p:txBody>
          <a:bodyPr anchor="b">
            <a:noAutofit/>
          </a:bodyPr>
          <a:lstStyle>
            <a:lvl1pPr algn="ctr">
              <a:defRPr sz="384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931062" y="916443"/>
            <a:ext cx="3930901" cy="5895386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920"/>
            </a:lvl1pPr>
            <a:lvl2pPr marL="548640" indent="0">
              <a:buNone/>
              <a:defRPr sz="1920"/>
            </a:lvl2pPr>
            <a:lvl3pPr marL="1097280" indent="0">
              <a:buNone/>
              <a:defRPr sz="1920"/>
            </a:lvl3pPr>
            <a:lvl4pPr marL="1645920" indent="0">
              <a:buNone/>
              <a:defRPr sz="1920"/>
            </a:lvl4pPr>
            <a:lvl5pPr marL="2194560" indent="0">
              <a:buNone/>
              <a:defRPr sz="1920"/>
            </a:lvl5pPr>
            <a:lvl6pPr marL="2743200" indent="0">
              <a:buNone/>
              <a:defRPr sz="1920"/>
            </a:lvl6pPr>
            <a:lvl7pPr marL="3291840" indent="0">
              <a:buNone/>
              <a:defRPr sz="1920"/>
            </a:lvl7pPr>
            <a:lvl8pPr marL="3840480" indent="0">
              <a:buNone/>
              <a:defRPr sz="1920"/>
            </a:lvl8pPr>
            <a:lvl9pPr marL="4389120" indent="0">
              <a:buNone/>
              <a:defRPr sz="192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6555" y="2927113"/>
            <a:ext cx="7121939" cy="4051361"/>
          </a:xfrm>
        </p:spPr>
        <p:txBody>
          <a:bodyPr anchor="t">
            <a:normAutofit/>
          </a:bodyPr>
          <a:lstStyle>
            <a:lvl1pPr marL="0" indent="0" algn="ctr">
              <a:buNone/>
              <a:defRPr sz="192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12/15/2024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8966162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6660" y="657369"/>
            <a:ext cx="12170159" cy="458016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6567" y="5478306"/>
            <a:ext cx="12426391" cy="652166"/>
          </a:xfrm>
        </p:spPr>
        <p:txBody>
          <a:bodyPr anchor="b">
            <a:normAutofit/>
          </a:bodyPr>
          <a:lstStyle>
            <a:lvl1pPr algn="ctr">
              <a:defRPr sz="33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403219" y="834012"/>
            <a:ext cx="11814415" cy="4230805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400"/>
            </a:lvl1pPr>
            <a:lvl2pPr marL="548640" indent="0">
              <a:buNone/>
              <a:defRPr sz="2400"/>
            </a:lvl2pPr>
            <a:lvl3pPr marL="1097280" indent="0">
              <a:buNone/>
              <a:defRPr sz="2400"/>
            </a:lvl3pPr>
            <a:lvl4pPr marL="1645920" indent="0">
              <a:buNone/>
              <a:defRPr sz="2400"/>
            </a:lvl4pPr>
            <a:lvl5pPr marL="2194560" indent="0">
              <a:buNone/>
              <a:defRPr sz="2400"/>
            </a:lvl5pPr>
            <a:lvl6pPr marL="2743200" indent="0">
              <a:buNone/>
              <a:defRPr sz="2400"/>
            </a:lvl6pPr>
            <a:lvl7pPr marL="3291840" indent="0">
              <a:buNone/>
              <a:defRPr sz="2400"/>
            </a:lvl7pPr>
            <a:lvl8pPr marL="3840480" indent="0">
              <a:buNone/>
              <a:defRPr sz="2400"/>
            </a:lvl8pPr>
            <a:lvl9pPr marL="4389120" indent="0">
              <a:buNone/>
              <a:defRPr sz="24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6554" y="6130474"/>
            <a:ext cx="12424514" cy="818966"/>
          </a:xfrm>
        </p:spPr>
        <p:txBody>
          <a:bodyPr anchor="t"/>
          <a:lstStyle>
            <a:lvl1pPr marL="0" indent="0" algn="ctr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12/15/2024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1581732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6554" y="730124"/>
            <a:ext cx="12424514" cy="4241213"/>
          </a:xfrm>
        </p:spPr>
        <p:txBody>
          <a:bodyPr anchor="ctr"/>
          <a:lstStyle>
            <a:lvl1pPr>
              <a:defRPr sz="38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6553" y="5154216"/>
            <a:ext cx="12424516" cy="1802191"/>
          </a:xfrm>
        </p:spPr>
        <p:txBody>
          <a:bodyPr anchor="ctr"/>
          <a:lstStyle>
            <a:lvl1pPr marL="0" indent="0" algn="ctr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12/15/2024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3568345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5455" y="731520"/>
            <a:ext cx="11163302" cy="3591485"/>
          </a:xfrm>
        </p:spPr>
        <p:txBody>
          <a:bodyPr anchor="ctr"/>
          <a:lstStyle>
            <a:lvl1pPr>
              <a:defRPr sz="38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2064773" y="4332039"/>
            <a:ext cx="10502759" cy="639299"/>
          </a:xfrm>
        </p:spPr>
        <p:txBody>
          <a:bodyPr anchor="t">
            <a:normAutofit/>
          </a:bodyPr>
          <a:lstStyle>
            <a:lvl1pPr marL="0" indent="0" algn="r">
              <a:buNone/>
              <a:defRPr sz="168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6553" y="5165224"/>
            <a:ext cx="12424516" cy="1787395"/>
          </a:xfrm>
        </p:spPr>
        <p:txBody>
          <a:bodyPr anchor="ctr">
            <a:normAutofit/>
          </a:bodyPr>
          <a:lstStyle>
            <a:lvl1pPr marL="0" indent="0" algn="ctr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12/15/2024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1188720" y="1061755"/>
            <a:ext cx="731520" cy="701731"/>
          </a:xfrm>
          <a:prstGeom prst="rect">
            <a:avLst/>
          </a:prstGeom>
        </p:spPr>
        <p:txBody>
          <a:bodyPr vert="horz" lIns="109728" tIns="54864" rIns="109728" bIns="54864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96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605659" y="3513910"/>
            <a:ext cx="731520" cy="701731"/>
          </a:xfrm>
          <a:prstGeom prst="rect">
            <a:avLst/>
          </a:prstGeom>
        </p:spPr>
        <p:txBody>
          <a:bodyPr vert="horz" lIns="109728" tIns="54864" rIns="109728" bIns="54864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96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151574950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6553" y="2552331"/>
            <a:ext cx="12424516" cy="3014202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6541" y="5580667"/>
            <a:ext cx="12422639" cy="1368773"/>
          </a:xfrm>
        </p:spPr>
        <p:txBody>
          <a:bodyPr anchor="t"/>
          <a:lstStyle>
            <a:lvl1pPr marL="0" indent="0" algn="ctr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12/15/2024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1623580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096554" y="731520"/>
            <a:ext cx="12424514" cy="11645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096554" y="2263140"/>
            <a:ext cx="3961181" cy="691514"/>
          </a:xfrm>
        </p:spPr>
        <p:txBody>
          <a:bodyPr anchor="b">
            <a:noAutofit/>
          </a:bodyPr>
          <a:lstStyle>
            <a:lvl1pPr marL="0" indent="0" algn="ctr">
              <a:buNone/>
              <a:defRPr sz="2880" b="0">
                <a:solidFill>
                  <a:schemeClr val="tx1"/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096554" y="3086100"/>
            <a:ext cx="3961181" cy="3863340"/>
          </a:xfrm>
        </p:spPr>
        <p:txBody>
          <a:bodyPr anchor="t">
            <a:normAutofit/>
          </a:bodyPr>
          <a:lstStyle>
            <a:lvl1pPr marL="0" indent="0" algn="ctr">
              <a:buNone/>
              <a:defRPr sz="168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336053" y="2263140"/>
            <a:ext cx="3961181" cy="691514"/>
          </a:xfrm>
        </p:spPr>
        <p:txBody>
          <a:bodyPr anchor="b">
            <a:noAutofit/>
          </a:bodyPr>
          <a:lstStyle>
            <a:lvl1pPr marL="0" indent="0" algn="ctr">
              <a:buNone/>
              <a:defRPr sz="2880" b="0">
                <a:solidFill>
                  <a:schemeClr val="tx1"/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5329722" y="3086100"/>
            <a:ext cx="3961181" cy="3863340"/>
          </a:xfrm>
        </p:spPr>
        <p:txBody>
          <a:bodyPr anchor="t">
            <a:normAutofit/>
          </a:bodyPr>
          <a:lstStyle>
            <a:lvl1pPr marL="0" indent="0" algn="ctr">
              <a:buNone/>
              <a:defRPr sz="168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9559886" y="2263140"/>
            <a:ext cx="3961181" cy="691514"/>
          </a:xfrm>
        </p:spPr>
        <p:txBody>
          <a:bodyPr anchor="b">
            <a:noAutofit/>
          </a:bodyPr>
          <a:lstStyle>
            <a:lvl1pPr marL="0" indent="0" algn="ctr">
              <a:buNone/>
              <a:defRPr sz="2880" b="0">
                <a:solidFill>
                  <a:schemeClr val="tx1"/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9559886" y="3086100"/>
            <a:ext cx="3961181" cy="3863340"/>
          </a:xfrm>
        </p:spPr>
        <p:txBody>
          <a:bodyPr anchor="t">
            <a:normAutofit/>
          </a:bodyPr>
          <a:lstStyle>
            <a:lvl1pPr marL="0" indent="0" algn="ctr">
              <a:buNone/>
              <a:defRPr sz="168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12/15/2024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460688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555" y="2181858"/>
            <a:ext cx="4007966" cy="221742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84560" y="2181858"/>
            <a:ext cx="4007966" cy="221742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3261" y="2181858"/>
            <a:ext cx="4007966" cy="221742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096553" y="731520"/>
            <a:ext cx="12424516" cy="11645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096554" y="4684927"/>
            <a:ext cx="3961181" cy="69151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221722" y="2326702"/>
            <a:ext cx="3710842" cy="1923545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920"/>
            </a:lvl1pPr>
            <a:lvl2pPr marL="548640" indent="0">
              <a:buNone/>
              <a:defRPr sz="1920"/>
            </a:lvl2pPr>
            <a:lvl3pPr marL="1097280" indent="0">
              <a:buNone/>
              <a:defRPr sz="1920"/>
            </a:lvl3pPr>
            <a:lvl4pPr marL="1645920" indent="0">
              <a:buNone/>
              <a:defRPr sz="1920"/>
            </a:lvl4pPr>
            <a:lvl5pPr marL="2194560" indent="0">
              <a:buNone/>
              <a:defRPr sz="1920"/>
            </a:lvl5pPr>
            <a:lvl6pPr marL="2743200" indent="0">
              <a:buNone/>
              <a:defRPr sz="1920"/>
            </a:lvl6pPr>
            <a:lvl7pPr marL="3291840" indent="0">
              <a:buNone/>
              <a:defRPr sz="1920"/>
            </a:lvl7pPr>
            <a:lvl8pPr marL="3840480" indent="0">
              <a:buNone/>
              <a:defRPr sz="1920"/>
            </a:lvl8pPr>
            <a:lvl9pPr marL="4389120" indent="0">
              <a:buNone/>
              <a:defRPr sz="192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096554" y="5376442"/>
            <a:ext cx="3961181" cy="1573000"/>
          </a:xfrm>
        </p:spPr>
        <p:txBody>
          <a:bodyPr anchor="t">
            <a:normAutofit/>
          </a:bodyPr>
          <a:lstStyle>
            <a:lvl1pPr marL="0" indent="0" algn="ctr">
              <a:buNone/>
              <a:defRPr sz="168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331346" y="4684927"/>
            <a:ext cx="3961181" cy="69151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5454891" y="2326913"/>
            <a:ext cx="3710842" cy="1929797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920"/>
            </a:lvl1pPr>
            <a:lvl2pPr marL="548640" indent="0">
              <a:buNone/>
              <a:defRPr sz="1920"/>
            </a:lvl2pPr>
            <a:lvl3pPr marL="1097280" indent="0">
              <a:buNone/>
              <a:defRPr sz="1920"/>
            </a:lvl3pPr>
            <a:lvl4pPr marL="1645920" indent="0">
              <a:buNone/>
              <a:defRPr sz="1920"/>
            </a:lvl4pPr>
            <a:lvl5pPr marL="2194560" indent="0">
              <a:buNone/>
              <a:defRPr sz="1920"/>
            </a:lvl5pPr>
            <a:lvl6pPr marL="2743200" indent="0">
              <a:buNone/>
              <a:defRPr sz="1920"/>
            </a:lvl6pPr>
            <a:lvl7pPr marL="3291840" indent="0">
              <a:buNone/>
              <a:defRPr sz="1920"/>
            </a:lvl7pPr>
            <a:lvl8pPr marL="3840480" indent="0">
              <a:buNone/>
              <a:defRPr sz="1920"/>
            </a:lvl8pPr>
            <a:lvl9pPr marL="4389120" indent="0">
              <a:buNone/>
              <a:defRPr sz="192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5329722" y="5376441"/>
            <a:ext cx="3961181" cy="1573000"/>
          </a:xfrm>
        </p:spPr>
        <p:txBody>
          <a:bodyPr anchor="t">
            <a:normAutofit/>
          </a:bodyPr>
          <a:lstStyle>
            <a:lvl1pPr marL="0" indent="0" algn="ctr">
              <a:buNone/>
              <a:defRPr sz="168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9560036" y="4684927"/>
            <a:ext cx="3961181" cy="69151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9690837" y="2321318"/>
            <a:ext cx="3710842" cy="1928753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920"/>
            </a:lvl1pPr>
            <a:lvl2pPr marL="548640" indent="0">
              <a:buNone/>
              <a:defRPr sz="1920"/>
            </a:lvl2pPr>
            <a:lvl3pPr marL="1097280" indent="0">
              <a:buNone/>
              <a:defRPr sz="1920"/>
            </a:lvl3pPr>
            <a:lvl4pPr marL="1645920" indent="0">
              <a:buNone/>
              <a:defRPr sz="1920"/>
            </a:lvl4pPr>
            <a:lvl5pPr marL="2194560" indent="0">
              <a:buNone/>
              <a:defRPr sz="1920"/>
            </a:lvl5pPr>
            <a:lvl6pPr marL="2743200" indent="0">
              <a:buNone/>
              <a:defRPr sz="1920"/>
            </a:lvl6pPr>
            <a:lvl7pPr marL="3291840" indent="0">
              <a:buNone/>
              <a:defRPr sz="1920"/>
            </a:lvl7pPr>
            <a:lvl8pPr marL="3840480" indent="0">
              <a:buNone/>
              <a:defRPr sz="1920"/>
            </a:lvl8pPr>
            <a:lvl9pPr marL="4389120" indent="0">
              <a:buNone/>
              <a:defRPr sz="192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9559886" y="5376439"/>
            <a:ext cx="3961181" cy="1573002"/>
          </a:xfrm>
        </p:spPr>
        <p:txBody>
          <a:bodyPr anchor="t">
            <a:normAutofit/>
          </a:bodyPr>
          <a:lstStyle>
            <a:lvl1pPr marL="0" indent="0" algn="ctr">
              <a:buNone/>
              <a:defRPr sz="168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12/15/2024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6591460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12/15/2024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3567679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779682" y="731520"/>
            <a:ext cx="2741384" cy="621792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96555" y="731520"/>
            <a:ext cx="9500246" cy="6217921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12/15/2024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2461326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0789627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8756229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036478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983821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4060536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1753204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3445230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46551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6554" y="731520"/>
            <a:ext cx="12424514" cy="116454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6554" y="2078940"/>
            <a:ext cx="12424514" cy="487050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214483" y="705993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B61BEF0D-F0BB-DE4B-95CE-6DB70DBA9567}" type="datetimeFigureOut">
              <a:rPr lang="en-US" smtClean="0"/>
              <a:pPr/>
              <a:t>12/15/2024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6555" y="7059931"/>
            <a:ext cx="8007438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616814" y="7059931"/>
            <a:ext cx="904254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814495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15" r:id="rId1"/>
    <p:sldLayoutId id="2147483816" r:id="rId2"/>
    <p:sldLayoutId id="2147483817" r:id="rId3"/>
    <p:sldLayoutId id="2147483818" r:id="rId4"/>
    <p:sldLayoutId id="2147483819" r:id="rId5"/>
    <p:sldLayoutId id="2147483820" r:id="rId6"/>
    <p:sldLayoutId id="2147483821" r:id="rId7"/>
    <p:sldLayoutId id="2147483822" r:id="rId8"/>
    <p:sldLayoutId id="2147483823" r:id="rId9"/>
    <p:sldLayoutId id="2147483824" r:id="rId10"/>
    <p:sldLayoutId id="2147483825" r:id="rId11"/>
    <p:sldLayoutId id="2147483826" r:id="rId12"/>
    <p:sldLayoutId id="2147483827" r:id="rId13"/>
    <p:sldLayoutId id="2147483828" r:id="rId14"/>
    <p:sldLayoutId id="2147483829" r:id="rId15"/>
    <p:sldLayoutId id="2147483830" r:id="rId16"/>
    <p:sldLayoutId id="2147483831" r:id="rId17"/>
    <p:sldLayoutId id="2147483832" r:id="rId18"/>
    <p:sldLayoutId id="2147483833" r:id="rId19"/>
    <p:sldLayoutId id="2147483834" r:id="rId20"/>
    <p:sldLayoutId id="2147483835" r:id="rId21"/>
    <p:sldLayoutId id="2147483836" r:id="rId22"/>
    <p:sldLayoutId id="2147483837" r:id="rId23"/>
    <p:sldLayoutId id="2147483838" r:id="rId24"/>
    <p:sldLayoutId id="2147483839" r:id="rId25"/>
  </p:sldLayoutIdLst>
  <p:hf sldNum="0" hdr="0" ftr="0" dt="0"/>
  <p:txStyles>
    <p:titleStyle>
      <a:lvl1pPr algn="ctr" defTabSz="548640" rtl="0" eaLnBrk="1" latinLnBrk="0" hangingPunct="1">
        <a:spcBef>
          <a:spcPct val="0"/>
        </a:spcBef>
        <a:buNone/>
        <a:defRPr sz="4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411480" indent="-367200" algn="l" defTabSz="548640" rtl="0" eaLnBrk="1" latinLnBrk="0" hangingPunct="1">
        <a:spcBef>
          <a:spcPct val="20000"/>
        </a:spcBef>
        <a:spcAft>
          <a:spcPts val="720"/>
        </a:spcAft>
        <a:buClr>
          <a:schemeClr val="tx2"/>
        </a:buClr>
        <a:buSzPct val="70000"/>
        <a:buFont typeface="Wingdings 2" charset="2"/>
        <a:buChar char=""/>
        <a:defRPr sz="2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864000" indent="-324000" algn="l" defTabSz="548640" rtl="0" eaLnBrk="1" latinLnBrk="0" hangingPunct="1">
        <a:spcBef>
          <a:spcPct val="20000"/>
        </a:spcBef>
        <a:spcAft>
          <a:spcPts val="720"/>
        </a:spcAft>
        <a:buClr>
          <a:schemeClr val="tx2"/>
        </a:buClr>
        <a:buSzPct val="70000"/>
        <a:buFont typeface="Wingdings 2" charset="2"/>
        <a:buChar char=""/>
        <a:defRPr sz="216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231200" indent="-259200" algn="l" defTabSz="548640" rtl="0" eaLnBrk="1" latinLnBrk="0" hangingPunct="1">
        <a:spcBef>
          <a:spcPct val="20000"/>
        </a:spcBef>
        <a:spcAft>
          <a:spcPts val="720"/>
        </a:spcAft>
        <a:buClr>
          <a:schemeClr val="tx2"/>
        </a:buClr>
        <a:buSzPct val="70000"/>
        <a:buFont typeface="Wingdings 2" charset="2"/>
        <a:buChar char=""/>
        <a:defRPr sz="192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663200" indent="-259200" algn="l" defTabSz="548640" rtl="0" eaLnBrk="1" latinLnBrk="0" hangingPunct="1">
        <a:spcBef>
          <a:spcPct val="20000"/>
        </a:spcBef>
        <a:spcAft>
          <a:spcPts val="720"/>
        </a:spcAft>
        <a:buClr>
          <a:schemeClr val="tx2"/>
        </a:buClr>
        <a:buSzPct val="70000"/>
        <a:buFont typeface="Wingdings 2" charset="2"/>
        <a:buChar char=""/>
        <a:defRPr sz="168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2008800" indent="-259200" algn="l" defTabSz="548640" rtl="0" eaLnBrk="1" latinLnBrk="0" hangingPunct="1">
        <a:spcBef>
          <a:spcPct val="20000"/>
        </a:spcBef>
        <a:spcAft>
          <a:spcPts val="720"/>
        </a:spcAft>
        <a:buClr>
          <a:schemeClr val="tx2"/>
        </a:buClr>
        <a:buSzPct val="70000"/>
        <a:buFont typeface="Wingdings 2" charset="2"/>
        <a:buChar char=""/>
        <a:defRPr sz="168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417520" indent="-274320" algn="l" defTabSz="548640" rtl="0" eaLnBrk="1" latinLnBrk="0" hangingPunct="1">
        <a:spcBef>
          <a:spcPct val="20000"/>
        </a:spcBef>
        <a:spcAft>
          <a:spcPts val="720"/>
        </a:spcAft>
        <a:buClr>
          <a:schemeClr val="tx2"/>
        </a:buClr>
        <a:buSzPct val="70000"/>
        <a:buFont typeface="Wingdings 2" charset="2"/>
        <a:buChar char=""/>
        <a:defRPr sz="168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882160" indent="-274320" algn="l" defTabSz="548640" rtl="0" eaLnBrk="1" latinLnBrk="0" hangingPunct="1">
        <a:spcBef>
          <a:spcPct val="20000"/>
        </a:spcBef>
        <a:spcAft>
          <a:spcPts val="720"/>
        </a:spcAft>
        <a:buClr>
          <a:schemeClr val="tx2"/>
        </a:buClr>
        <a:buSzPct val="70000"/>
        <a:buFont typeface="Wingdings 2" charset="2"/>
        <a:buChar char=""/>
        <a:defRPr sz="168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3346800" indent="-274320" algn="l" defTabSz="548640" rtl="0" eaLnBrk="1" latinLnBrk="0" hangingPunct="1">
        <a:spcBef>
          <a:spcPct val="20000"/>
        </a:spcBef>
        <a:spcAft>
          <a:spcPts val="720"/>
        </a:spcAft>
        <a:buClr>
          <a:schemeClr val="tx2"/>
        </a:buClr>
        <a:buSzPct val="70000"/>
        <a:buFont typeface="Wingdings 2" charset="2"/>
        <a:buChar char=""/>
        <a:defRPr sz="168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727440" indent="-274320" algn="l" defTabSz="548640" rtl="0" eaLnBrk="1" latinLnBrk="0" hangingPunct="1">
        <a:spcBef>
          <a:spcPct val="20000"/>
        </a:spcBef>
        <a:spcAft>
          <a:spcPts val="720"/>
        </a:spcAft>
        <a:buClr>
          <a:schemeClr val="tx2"/>
        </a:buClr>
        <a:buSzPct val="70000"/>
        <a:buFont typeface="Wingdings 2" charset="2"/>
        <a:buChar char=""/>
        <a:defRPr sz="168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3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4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836" y="2870115"/>
            <a:ext cx="5757535" cy="2730091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304693" y="769021"/>
            <a:ext cx="1202101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400"/>
              </a:lnSpc>
              <a:buNone/>
            </a:pPr>
            <a:r>
              <a:rPr lang="en-US" sz="540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Foodies: Food Delivery Application</a:t>
            </a:r>
            <a:endParaRPr lang="en-US" sz="5400" dirty="0"/>
          </a:p>
        </p:txBody>
      </p:sp>
      <p:sp>
        <p:nvSpPr>
          <p:cNvPr id="5" name="Text 1"/>
          <p:cNvSpPr/>
          <p:nvPr/>
        </p:nvSpPr>
        <p:spPr>
          <a:xfrm>
            <a:off x="6693428" y="3522226"/>
            <a:ext cx="7415927" cy="1185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100"/>
              </a:lnSpc>
              <a:buNone/>
            </a:pPr>
            <a:r>
              <a:rPr lang="en-US" sz="1900" dirty="0">
                <a:solidFill>
                  <a:srgbClr val="DAD8E9"/>
                </a:solidFill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Foodies, a comprehensive food delivery platform designed for modern users. Foodies leverages cutting-edge technologies and strategic integrations to deliver a seamless and user-centric experience</a:t>
            </a: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.</a:t>
            </a:r>
            <a:endParaRPr lang="en-US" sz="1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037" y="2292072"/>
            <a:ext cx="5486400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400"/>
              </a:lnSpc>
              <a:buNone/>
            </a:pPr>
            <a:r>
              <a:rPr lang="en-US" sz="430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Project Overview</a:t>
            </a:r>
            <a:endParaRPr lang="en-US" sz="4300" dirty="0"/>
          </a:p>
        </p:txBody>
      </p:sp>
      <p:sp>
        <p:nvSpPr>
          <p:cNvPr id="3" name="Text 1"/>
          <p:cNvSpPr/>
          <p:nvPr/>
        </p:nvSpPr>
        <p:spPr>
          <a:xfrm>
            <a:off x="864037" y="3594973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15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What is Foodies?</a:t>
            </a:r>
            <a:endParaRPr lang="en-US" sz="2150" dirty="0"/>
          </a:p>
        </p:txBody>
      </p:sp>
      <p:sp>
        <p:nvSpPr>
          <p:cNvPr id="4" name="Text 2"/>
          <p:cNvSpPr/>
          <p:nvPr/>
        </p:nvSpPr>
        <p:spPr>
          <a:xfrm>
            <a:off x="864037" y="4184690"/>
            <a:ext cx="6150054" cy="1185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100"/>
              </a:lnSpc>
              <a:buNone/>
            </a:pP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Foodies is a full-stack food delivery web application. It simplifies food ordering and delivery processes for both users and restaurants.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7623929" y="3594973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15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Key Features</a:t>
            </a:r>
            <a:endParaRPr lang="en-US" sz="2150" dirty="0"/>
          </a:p>
        </p:txBody>
      </p:sp>
      <p:sp>
        <p:nvSpPr>
          <p:cNvPr id="6" name="Text 4"/>
          <p:cNvSpPr/>
          <p:nvPr/>
        </p:nvSpPr>
        <p:spPr>
          <a:xfrm>
            <a:off x="7623929" y="4184690"/>
            <a:ext cx="6150054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3100"/>
              </a:lnSpc>
              <a:buSzPct val="100000"/>
              <a:buChar char="•"/>
            </a:pP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Users can browse menus, place orders, and make secure payments.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7623929" y="5061109"/>
            <a:ext cx="6150054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3100"/>
              </a:lnSpc>
              <a:buSzPct val="100000"/>
              <a:buChar char="•"/>
            </a:pP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Restaurants can upload and manage menus, handle orders, and track customer analytics.</a:t>
            </a:r>
            <a:endParaRPr lang="en-US" sz="1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0932" y="771882"/>
            <a:ext cx="5022175" cy="6276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4900"/>
              </a:lnSpc>
              <a:buNone/>
            </a:pPr>
            <a:r>
              <a:rPr lang="en-US" sz="395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Technology Stack</a:t>
            </a:r>
            <a:endParaRPr lang="en-US" sz="3950" dirty="0"/>
          </a:p>
        </p:txBody>
      </p:sp>
      <p:sp>
        <p:nvSpPr>
          <p:cNvPr id="4" name="Shape 1"/>
          <p:cNvSpPr/>
          <p:nvPr/>
        </p:nvSpPr>
        <p:spPr>
          <a:xfrm>
            <a:off x="813234" y="1738552"/>
            <a:ext cx="3668078" cy="2507694"/>
          </a:xfrm>
          <a:prstGeom prst="roundRect">
            <a:avLst>
              <a:gd name="adj" fmla="val 2718"/>
            </a:avLst>
          </a:prstGeom>
          <a:solidFill>
            <a:srgbClr val="542C49"/>
          </a:solidFill>
          <a:ln w="7620">
            <a:solidFill>
              <a:srgbClr val="6D4562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024533" y="1972151"/>
            <a:ext cx="2511028" cy="31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450"/>
              </a:lnSpc>
              <a:buNone/>
            </a:pPr>
            <a:r>
              <a:rPr lang="en-US" sz="19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Frontend</a:t>
            </a:r>
            <a:endParaRPr lang="en-US" sz="1950" dirty="0"/>
          </a:p>
        </p:txBody>
      </p:sp>
      <p:sp>
        <p:nvSpPr>
          <p:cNvPr id="6" name="Text 3"/>
          <p:cNvSpPr/>
          <p:nvPr/>
        </p:nvSpPr>
        <p:spPr>
          <a:xfrm>
            <a:off x="1024533" y="2421493"/>
            <a:ext cx="3200876" cy="10844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00"/>
              </a:lnSpc>
              <a:buNone/>
            </a:pPr>
            <a:r>
              <a:rPr lang="en-US" sz="17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React, React Router, Axios, Tailwind CSS, React Hot Toast, React Icons.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4684990" y="1738551"/>
            <a:ext cx="3668078" cy="2507695"/>
          </a:xfrm>
          <a:prstGeom prst="roundRect">
            <a:avLst>
              <a:gd name="adj" fmla="val 2718"/>
            </a:avLst>
          </a:prstGeom>
          <a:solidFill>
            <a:srgbClr val="542C49"/>
          </a:solidFill>
          <a:ln w="7620">
            <a:solidFill>
              <a:srgbClr val="6D456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918591" y="1972151"/>
            <a:ext cx="2511028" cy="31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450"/>
              </a:lnSpc>
              <a:buNone/>
            </a:pPr>
            <a:r>
              <a:rPr lang="en-US" sz="19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Backend</a:t>
            </a:r>
            <a:endParaRPr lang="en-US" sz="1950" dirty="0"/>
          </a:p>
        </p:txBody>
      </p:sp>
      <p:sp>
        <p:nvSpPr>
          <p:cNvPr id="9" name="Text 6"/>
          <p:cNvSpPr/>
          <p:nvPr/>
        </p:nvSpPr>
        <p:spPr>
          <a:xfrm>
            <a:off x="4918591" y="2421493"/>
            <a:ext cx="3200876" cy="10844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00"/>
              </a:lnSpc>
              <a:buNone/>
            </a:pPr>
            <a:r>
              <a:rPr lang="en-US" sz="17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Node.js, Express.js, MongoDB, Mongoose, JWT, bcrypt.js, Multer, Compression, </a:t>
            </a:r>
            <a:r>
              <a:rPr lang="en-US" sz="1750" dirty="0" err="1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cors</a:t>
            </a:r>
            <a:endParaRPr lang="en-US" sz="1750" dirty="0"/>
          </a:p>
        </p:txBody>
      </p:sp>
      <p:sp>
        <p:nvSpPr>
          <p:cNvPr id="11" name="Text 7"/>
          <p:cNvSpPr/>
          <p:nvPr/>
        </p:nvSpPr>
        <p:spPr>
          <a:xfrm>
            <a:off x="4918591" y="4635698"/>
            <a:ext cx="3200876" cy="3614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00"/>
              </a:lnSpc>
              <a:buNone/>
            </a:pPr>
            <a:endParaRPr lang="en-US" sz="1750" dirty="0"/>
          </a:p>
        </p:txBody>
      </p:sp>
      <p:sp>
        <p:nvSpPr>
          <p:cNvPr id="12" name="Shape 8"/>
          <p:cNvSpPr/>
          <p:nvPr/>
        </p:nvSpPr>
        <p:spPr>
          <a:xfrm>
            <a:off x="813234" y="4635698"/>
            <a:ext cx="3668078" cy="2507694"/>
          </a:xfrm>
          <a:prstGeom prst="roundRect">
            <a:avLst>
              <a:gd name="adj" fmla="val 4744"/>
            </a:avLst>
          </a:prstGeom>
          <a:solidFill>
            <a:srgbClr val="542C49"/>
          </a:solidFill>
          <a:ln w="7620">
            <a:solidFill>
              <a:srgbClr val="6D4562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1024533" y="4874208"/>
            <a:ext cx="2915722" cy="31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450"/>
              </a:lnSpc>
              <a:buNone/>
            </a:pPr>
            <a:r>
              <a:rPr lang="en-US" sz="19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Third-Party Integrations</a:t>
            </a:r>
            <a:endParaRPr lang="en-US" sz="1950" dirty="0"/>
          </a:p>
        </p:txBody>
      </p:sp>
      <p:sp>
        <p:nvSpPr>
          <p:cNvPr id="14" name="Text 10"/>
          <p:cNvSpPr/>
          <p:nvPr/>
        </p:nvSpPr>
        <p:spPr>
          <a:xfrm>
            <a:off x="1024533" y="5319780"/>
            <a:ext cx="3200876" cy="10844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00"/>
              </a:lnSpc>
              <a:buNone/>
            </a:pPr>
            <a:r>
              <a:rPr lang="en-US" sz="17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Stripe for secure payment processing, Cloudinary for image storage and optimization.</a:t>
            </a:r>
            <a:endParaRPr lang="en-US" sz="1750" dirty="0"/>
          </a:p>
        </p:txBody>
      </p:sp>
      <p:sp>
        <p:nvSpPr>
          <p:cNvPr id="15" name="Shape 11"/>
          <p:cNvSpPr/>
          <p:nvPr/>
        </p:nvSpPr>
        <p:spPr>
          <a:xfrm>
            <a:off x="4692611" y="4642792"/>
            <a:ext cx="3668078" cy="2507693"/>
          </a:xfrm>
          <a:prstGeom prst="roundRect">
            <a:avLst>
              <a:gd name="adj" fmla="val 4744"/>
            </a:avLst>
          </a:prstGeom>
          <a:solidFill>
            <a:srgbClr val="542C49"/>
          </a:solidFill>
          <a:ln w="7620">
            <a:solidFill>
              <a:srgbClr val="6D4562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6" name="Text 12"/>
          <p:cNvSpPr/>
          <p:nvPr/>
        </p:nvSpPr>
        <p:spPr>
          <a:xfrm>
            <a:off x="4904593" y="4874208"/>
            <a:ext cx="2511028" cy="31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450"/>
              </a:lnSpc>
              <a:buNone/>
            </a:pPr>
            <a:r>
              <a:rPr lang="en-US" sz="19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Deployment</a:t>
            </a:r>
            <a:endParaRPr lang="en-US" sz="1950" dirty="0"/>
          </a:p>
        </p:txBody>
      </p:sp>
      <p:sp>
        <p:nvSpPr>
          <p:cNvPr id="17" name="Text 13"/>
          <p:cNvSpPr/>
          <p:nvPr/>
        </p:nvSpPr>
        <p:spPr>
          <a:xfrm>
            <a:off x="4904593" y="5318980"/>
            <a:ext cx="3200876" cy="722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00"/>
              </a:lnSpc>
              <a:buNone/>
            </a:pPr>
            <a:r>
              <a:rPr lang="en-US" sz="17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Frontend hosted on Vercel, backend deployed on Render.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0352" y="290793"/>
            <a:ext cx="6729696" cy="3320016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862489" y="3758565"/>
            <a:ext cx="6758107" cy="684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350"/>
              </a:lnSpc>
              <a:buNone/>
            </a:pPr>
            <a:r>
              <a:rPr lang="en-US" sz="430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Frontend Implementation</a:t>
            </a:r>
            <a:endParaRPr lang="en-US" sz="4300" dirty="0"/>
          </a:p>
        </p:txBody>
      </p:sp>
      <p:sp>
        <p:nvSpPr>
          <p:cNvPr id="5" name="Shape 1"/>
          <p:cNvSpPr/>
          <p:nvPr/>
        </p:nvSpPr>
        <p:spPr>
          <a:xfrm>
            <a:off x="862489" y="5089684"/>
            <a:ext cx="554355" cy="554355"/>
          </a:xfrm>
          <a:prstGeom prst="roundRect">
            <a:avLst>
              <a:gd name="adj" fmla="val 18671"/>
            </a:avLst>
          </a:prstGeom>
          <a:solidFill>
            <a:srgbClr val="542C49"/>
          </a:solidFill>
          <a:ln w="15240">
            <a:solidFill>
              <a:srgbClr val="6D4562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1078230" y="5202555"/>
            <a:ext cx="122873" cy="328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5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1</a:t>
            </a:r>
            <a:endParaRPr lang="en-US" sz="2550" dirty="0"/>
          </a:p>
        </p:txBody>
      </p:sp>
      <p:sp>
        <p:nvSpPr>
          <p:cNvPr id="7" name="Text 3"/>
          <p:cNvSpPr/>
          <p:nvPr/>
        </p:nvSpPr>
        <p:spPr>
          <a:xfrm>
            <a:off x="1663184" y="5089684"/>
            <a:ext cx="2738080" cy="342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650"/>
              </a:lnSpc>
              <a:buNone/>
            </a:pPr>
            <a:r>
              <a:rPr lang="en-US" sz="21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React</a:t>
            </a:r>
            <a:endParaRPr lang="en-US" sz="2150" dirty="0"/>
          </a:p>
        </p:txBody>
      </p:sp>
      <p:sp>
        <p:nvSpPr>
          <p:cNvPr id="8" name="Text 4"/>
          <p:cNvSpPr/>
          <p:nvPr/>
        </p:nvSpPr>
        <p:spPr>
          <a:xfrm>
            <a:off x="1663184" y="5579745"/>
            <a:ext cx="3336846" cy="1971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100"/>
              </a:lnSpc>
              <a:buNone/>
            </a:pP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Leveraged reusable components for modular and maintainable frontend, simplified dynamic updates for a smooth user experience.</a:t>
            </a:r>
            <a:endParaRPr lang="en-US" sz="1900" dirty="0"/>
          </a:p>
        </p:txBody>
      </p:sp>
      <p:sp>
        <p:nvSpPr>
          <p:cNvPr id="9" name="Shape 5"/>
          <p:cNvSpPr/>
          <p:nvPr/>
        </p:nvSpPr>
        <p:spPr>
          <a:xfrm>
            <a:off x="5246370" y="5089684"/>
            <a:ext cx="554355" cy="554355"/>
          </a:xfrm>
          <a:prstGeom prst="roundRect">
            <a:avLst>
              <a:gd name="adj" fmla="val 18671"/>
            </a:avLst>
          </a:prstGeom>
          <a:solidFill>
            <a:srgbClr val="542C49"/>
          </a:solidFill>
          <a:ln w="15240">
            <a:solidFill>
              <a:srgbClr val="6D4562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5427345" y="5202555"/>
            <a:ext cx="192286" cy="328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5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2</a:t>
            </a:r>
            <a:endParaRPr lang="en-US" sz="2550" dirty="0"/>
          </a:p>
        </p:txBody>
      </p:sp>
      <p:sp>
        <p:nvSpPr>
          <p:cNvPr id="11" name="Text 7"/>
          <p:cNvSpPr/>
          <p:nvPr/>
        </p:nvSpPr>
        <p:spPr>
          <a:xfrm>
            <a:off x="6047065" y="5089684"/>
            <a:ext cx="2738080" cy="342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650"/>
              </a:lnSpc>
              <a:buNone/>
            </a:pPr>
            <a:r>
              <a:rPr lang="en-US" sz="21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React Router</a:t>
            </a:r>
            <a:endParaRPr lang="en-US" sz="2150" dirty="0"/>
          </a:p>
        </p:txBody>
      </p:sp>
      <p:sp>
        <p:nvSpPr>
          <p:cNvPr id="12" name="Text 8"/>
          <p:cNvSpPr/>
          <p:nvPr/>
        </p:nvSpPr>
        <p:spPr>
          <a:xfrm>
            <a:off x="6047065" y="5579745"/>
            <a:ext cx="3336846" cy="157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100"/>
              </a:lnSpc>
              <a:buNone/>
            </a:pP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Enabled Single Page Application (SPA) behavior, allowing navigation between pages without reloading.</a:t>
            </a:r>
            <a:endParaRPr lang="en-US" sz="1900" dirty="0"/>
          </a:p>
        </p:txBody>
      </p:sp>
      <p:sp>
        <p:nvSpPr>
          <p:cNvPr id="13" name="Shape 9"/>
          <p:cNvSpPr/>
          <p:nvPr/>
        </p:nvSpPr>
        <p:spPr>
          <a:xfrm>
            <a:off x="9630251" y="5089684"/>
            <a:ext cx="554355" cy="554355"/>
          </a:xfrm>
          <a:prstGeom prst="roundRect">
            <a:avLst>
              <a:gd name="adj" fmla="val 18671"/>
            </a:avLst>
          </a:prstGeom>
          <a:solidFill>
            <a:srgbClr val="542C49"/>
          </a:solidFill>
          <a:ln w="15240">
            <a:solidFill>
              <a:srgbClr val="6D4562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9812060" y="5202555"/>
            <a:ext cx="190619" cy="328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5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3</a:t>
            </a:r>
            <a:endParaRPr lang="en-US" sz="2550" dirty="0"/>
          </a:p>
        </p:txBody>
      </p:sp>
      <p:sp>
        <p:nvSpPr>
          <p:cNvPr id="15" name="Text 11"/>
          <p:cNvSpPr/>
          <p:nvPr/>
        </p:nvSpPr>
        <p:spPr>
          <a:xfrm>
            <a:off x="10430947" y="5089684"/>
            <a:ext cx="2738080" cy="342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650"/>
              </a:lnSpc>
              <a:buNone/>
            </a:pPr>
            <a:r>
              <a:rPr lang="en-US" sz="21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Axios</a:t>
            </a:r>
            <a:endParaRPr lang="en-US" sz="2150" dirty="0"/>
          </a:p>
        </p:txBody>
      </p:sp>
      <p:sp>
        <p:nvSpPr>
          <p:cNvPr id="16" name="Text 12"/>
          <p:cNvSpPr/>
          <p:nvPr/>
        </p:nvSpPr>
        <p:spPr>
          <a:xfrm>
            <a:off x="10430947" y="5579745"/>
            <a:ext cx="3336846" cy="1971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100"/>
              </a:lnSpc>
              <a:buNone/>
            </a:pP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Facilitated communication with backend APIs for tasks like fetching menu data, processing user details, and submitting orders.</a:t>
            </a:r>
            <a:endParaRPr lang="en-US" sz="1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037" y="2412325"/>
            <a:ext cx="6668214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400"/>
              </a:lnSpc>
              <a:buNone/>
            </a:pPr>
            <a:r>
              <a:rPr lang="en-US" sz="430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Backend Implementation</a:t>
            </a:r>
            <a:endParaRPr lang="en-US" sz="4300" dirty="0"/>
          </a:p>
        </p:txBody>
      </p:sp>
      <p:sp>
        <p:nvSpPr>
          <p:cNvPr id="3" name="Shape 1"/>
          <p:cNvSpPr/>
          <p:nvPr/>
        </p:nvSpPr>
        <p:spPr>
          <a:xfrm>
            <a:off x="864037" y="3746063"/>
            <a:ext cx="555427" cy="555427"/>
          </a:xfrm>
          <a:prstGeom prst="roundRect">
            <a:avLst>
              <a:gd name="adj" fmla="val 18669"/>
            </a:avLst>
          </a:prstGeom>
          <a:solidFill>
            <a:srgbClr val="542C49"/>
          </a:solidFill>
          <a:ln w="15240">
            <a:solidFill>
              <a:srgbClr val="6D456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80135" y="3859173"/>
            <a:ext cx="123111" cy="3292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5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1</a:t>
            </a:r>
            <a:endParaRPr lang="en-US" sz="2550" dirty="0"/>
          </a:p>
        </p:txBody>
      </p:sp>
      <p:sp>
        <p:nvSpPr>
          <p:cNvPr id="5" name="Text 3"/>
          <p:cNvSpPr/>
          <p:nvPr/>
        </p:nvSpPr>
        <p:spPr>
          <a:xfrm>
            <a:off x="1666280" y="3746063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1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Node.js</a:t>
            </a:r>
            <a:endParaRPr lang="en-US" sz="2150" dirty="0"/>
          </a:p>
        </p:txBody>
      </p:sp>
      <p:sp>
        <p:nvSpPr>
          <p:cNvPr id="6" name="Text 4"/>
          <p:cNvSpPr/>
          <p:nvPr/>
        </p:nvSpPr>
        <p:spPr>
          <a:xfrm>
            <a:off x="1666280" y="4237077"/>
            <a:ext cx="3333988" cy="1185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100"/>
              </a:lnSpc>
              <a:buNone/>
            </a:pP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Efficient runtime environment, ensuring scalability for server-side operations.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5247084" y="3746063"/>
            <a:ext cx="555427" cy="555427"/>
          </a:xfrm>
          <a:prstGeom prst="roundRect">
            <a:avLst>
              <a:gd name="adj" fmla="val 18669"/>
            </a:avLst>
          </a:prstGeom>
          <a:solidFill>
            <a:srgbClr val="542C49"/>
          </a:solidFill>
          <a:ln w="15240">
            <a:solidFill>
              <a:srgbClr val="6D456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28536" y="3859173"/>
            <a:ext cx="192524" cy="3292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5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2</a:t>
            </a:r>
            <a:endParaRPr lang="en-US" sz="2550" dirty="0"/>
          </a:p>
        </p:txBody>
      </p:sp>
      <p:sp>
        <p:nvSpPr>
          <p:cNvPr id="9" name="Text 7"/>
          <p:cNvSpPr/>
          <p:nvPr/>
        </p:nvSpPr>
        <p:spPr>
          <a:xfrm>
            <a:off x="6049328" y="3746063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1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Express.js</a:t>
            </a:r>
            <a:endParaRPr lang="en-US" sz="2150" dirty="0"/>
          </a:p>
        </p:txBody>
      </p:sp>
      <p:sp>
        <p:nvSpPr>
          <p:cNvPr id="10" name="Text 8"/>
          <p:cNvSpPr/>
          <p:nvPr/>
        </p:nvSpPr>
        <p:spPr>
          <a:xfrm>
            <a:off x="6049328" y="4237077"/>
            <a:ext cx="3333988" cy="15801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100"/>
              </a:lnSpc>
              <a:buNone/>
            </a:pP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RESTful APIs for core functionalities: user authentication, menu retrieval, order creation and tracking.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9630132" y="3746063"/>
            <a:ext cx="555427" cy="555427"/>
          </a:xfrm>
          <a:prstGeom prst="roundRect">
            <a:avLst>
              <a:gd name="adj" fmla="val 18669"/>
            </a:avLst>
          </a:prstGeom>
          <a:solidFill>
            <a:srgbClr val="542C49"/>
          </a:solidFill>
          <a:ln w="15240">
            <a:solidFill>
              <a:srgbClr val="6D456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812298" y="3859173"/>
            <a:ext cx="190976" cy="3292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5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3</a:t>
            </a:r>
            <a:endParaRPr lang="en-US" sz="2550" dirty="0"/>
          </a:p>
        </p:txBody>
      </p:sp>
      <p:sp>
        <p:nvSpPr>
          <p:cNvPr id="13" name="Text 11"/>
          <p:cNvSpPr/>
          <p:nvPr/>
        </p:nvSpPr>
        <p:spPr>
          <a:xfrm>
            <a:off x="10432375" y="3746063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1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MongoDB</a:t>
            </a:r>
            <a:endParaRPr lang="en-US" sz="2150" dirty="0"/>
          </a:p>
        </p:txBody>
      </p:sp>
      <p:sp>
        <p:nvSpPr>
          <p:cNvPr id="14" name="Text 12"/>
          <p:cNvSpPr/>
          <p:nvPr/>
        </p:nvSpPr>
        <p:spPr>
          <a:xfrm>
            <a:off x="10432375" y="4237077"/>
            <a:ext cx="3333988" cy="1185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100"/>
              </a:lnSpc>
              <a:buNone/>
            </a:pP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Primary database to store structured data related to users, orders, and menu items.</a:t>
            </a:r>
            <a:endParaRPr lang="en-US" sz="1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037" y="2292072"/>
            <a:ext cx="8526423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400"/>
              </a:lnSpc>
              <a:buNone/>
            </a:pPr>
            <a:r>
              <a:rPr lang="en-US" sz="430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Payment Integration with Stripe</a:t>
            </a:r>
            <a:endParaRPr lang="en-US" sz="4300" dirty="0"/>
          </a:p>
        </p:txBody>
      </p:sp>
      <p:sp>
        <p:nvSpPr>
          <p:cNvPr id="3" name="Text 1"/>
          <p:cNvSpPr/>
          <p:nvPr/>
        </p:nvSpPr>
        <p:spPr>
          <a:xfrm>
            <a:off x="864037" y="3594973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15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Why Stripe?</a:t>
            </a:r>
            <a:endParaRPr lang="en-US" sz="2150" dirty="0"/>
          </a:p>
        </p:txBody>
      </p:sp>
      <p:sp>
        <p:nvSpPr>
          <p:cNvPr id="4" name="Text 2"/>
          <p:cNvSpPr/>
          <p:nvPr/>
        </p:nvSpPr>
        <p:spPr>
          <a:xfrm>
            <a:off x="864037" y="4184690"/>
            <a:ext cx="6150054" cy="1185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100"/>
              </a:lnSpc>
              <a:buNone/>
            </a:pP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Stripe is renowned for its robust fraud prevention mechanisms, ease of implementation, and extensive developer resources.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7623929" y="3594973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15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Benefits</a:t>
            </a:r>
            <a:endParaRPr lang="en-US" sz="2150" dirty="0"/>
          </a:p>
        </p:txBody>
      </p:sp>
      <p:sp>
        <p:nvSpPr>
          <p:cNvPr id="6" name="Text 4"/>
          <p:cNvSpPr/>
          <p:nvPr/>
        </p:nvSpPr>
        <p:spPr>
          <a:xfrm>
            <a:off x="7623929" y="4184690"/>
            <a:ext cx="6150054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3100"/>
              </a:lnSpc>
              <a:buSzPct val="100000"/>
              <a:buChar char="•"/>
            </a:pP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Users experience a secure, reliable checkout process with options for credit cards and digital wallets.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7623929" y="5061109"/>
            <a:ext cx="6150054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3100"/>
              </a:lnSpc>
              <a:buSzPct val="100000"/>
              <a:buChar char="•"/>
            </a:pP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Business owners gain access to streamlined reporting and automated reconciliation.</a:t>
            </a:r>
            <a:endParaRPr lang="en-US" sz="1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037" y="2119074"/>
            <a:ext cx="9742765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400"/>
              </a:lnSpc>
              <a:buNone/>
            </a:pPr>
            <a:r>
              <a:rPr lang="en-US" sz="430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Image Management with Cloudinary</a:t>
            </a:r>
            <a:endParaRPr lang="en-US" sz="43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037" y="3175159"/>
            <a:ext cx="617220" cy="6172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64037" y="4039195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Why Cloudinary?</a:t>
            </a:r>
            <a:endParaRPr lang="en-US" sz="2150" dirty="0"/>
          </a:p>
        </p:txBody>
      </p:sp>
      <p:sp>
        <p:nvSpPr>
          <p:cNvPr id="5" name="Text 2"/>
          <p:cNvSpPr/>
          <p:nvPr/>
        </p:nvSpPr>
        <p:spPr>
          <a:xfrm>
            <a:off x="864037" y="4530209"/>
            <a:ext cx="4053840" cy="15801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Cloudinary is a cloud-based image management platform optimized for performance, scalability, and ease of use.</a:t>
            </a:r>
            <a:endParaRPr lang="en-US" sz="19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88161" y="3175159"/>
            <a:ext cx="617220" cy="6172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288161" y="4039195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User Benefits</a:t>
            </a:r>
            <a:endParaRPr lang="en-US" sz="2150" dirty="0"/>
          </a:p>
        </p:txBody>
      </p:sp>
      <p:sp>
        <p:nvSpPr>
          <p:cNvPr id="8" name="Text 4"/>
          <p:cNvSpPr/>
          <p:nvPr/>
        </p:nvSpPr>
        <p:spPr>
          <a:xfrm>
            <a:off x="5288161" y="4530209"/>
            <a:ext cx="4053959" cy="15801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Enhanced page loading speed due to optimized image delivery, high-quality visuals, regardless of the device or screen resolution.</a:t>
            </a:r>
            <a:endParaRPr lang="en-US" sz="19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2404" y="3175159"/>
            <a:ext cx="617220" cy="61722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712404" y="4039195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Developer Benefits</a:t>
            </a:r>
            <a:endParaRPr lang="en-US" sz="2150" dirty="0"/>
          </a:p>
        </p:txBody>
      </p:sp>
      <p:sp>
        <p:nvSpPr>
          <p:cNvPr id="11" name="Text 6"/>
          <p:cNvSpPr/>
          <p:nvPr/>
        </p:nvSpPr>
        <p:spPr>
          <a:xfrm>
            <a:off x="9712404" y="4530209"/>
            <a:ext cx="4053840" cy="15801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Automated storage and optimization reduced server workload, flexible APIs ensured easy integration with existing backend systems.</a:t>
            </a:r>
            <a:endParaRPr lang="en-US" sz="1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037" y="801172"/>
            <a:ext cx="6171724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400"/>
              </a:lnSpc>
              <a:buNone/>
            </a:pPr>
            <a:r>
              <a:rPr lang="en-US" sz="430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Addressing Challenges</a:t>
            </a:r>
            <a:endParaRPr lang="en-US" sz="43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25140" y="1980724"/>
            <a:ext cx="2128838" cy="177474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031813" y="2850356"/>
            <a:ext cx="115491" cy="493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850"/>
              </a:lnSpc>
              <a:buNone/>
            </a:pPr>
            <a:r>
              <a:rPr lang="en-US" sz="24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1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5400794" y="2227540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User Authentication</a:t>
            </a:r>
            <a:endParaRPr lang="en-US" sz="2150" dirty="0"/>
          </a:p>
        </p:txBody>
      </p:sp>
      <p:sp>
        <p:nvSpPr>
          <p:cNvPr id="6" name="Text 3"/>
          <p:cNvSpPr/>
          <p:nvPr/>
        </p:nvSpPr>
        <p:spPr>
          <a:xfrm>
            <a:off x="5400794" y="2718554"/>
            <a:ext cx="8118753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Securely managing user sessions and protecting sensitive credentials like passwords.</a:t>
            </a:r>
            <a:endParaRPr lang="en-US" sz="1900" dirty="0"/>
          </a:p>
        </p:txBody>
      </p:sp>
      <p:sp>
        <p:nvSpPr>
          <p:cNvPr id="7" name="Shape 4"/>
          <p:cNvSpPr/>
          <p:nvPr/>
        </p:nvSpPr>
        <p:spPr>
          <a:xfrm>
            <a:off x="5215652" y="3771067"/>
            <a:ext cx="8489037" cy="15240"/>
          </a:xfrm>
          <a:prstGeom prst="roundRect">
            <a:avLst>
              <a:gd name="adj" fmla="val 680400"/>
            </a:avLst>
          </a:prstGeom>
          <a:solidFill>
            <a:srgbClr val="6D4562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60721" y="3817144"/>
            <a:ext cx="4257675" cy="177474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999190" y="4457581"/>
            <a:ext cx="180618" cy="493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850"/>
              </a:lnSpc>
              <a:buNone/>
            </a:pPr>
            <a:r>
              <a:rPr lang="en-US" sz="24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2</a:t>
            </a:r>
            <a:endParaRPr lang="en-US" sz="2400" dirty="0"/>
          </a:p>
        </p:txBody>
      </p:sp>
      <p:sp>
        <p:nvSpPr>
          <p:cNvPr id="10" name="Text 6"/>
          <p:cNvSpPr/>
          <p:nvPr/>
        </p:nvSpPr>
        <p:spPr>
          <a:xfrm>
            <a:off x="6465213" y="4063960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Payment Processing</a:t>
            </a:r>
            <a:endParaRPr lang="en-US" sz="2150" dirty="0"/>
          </a:p>
        </p:txBody>
      </p:sp>
      <p:sp>
        <p:nvSpPr>
          <p:cNvPr id="11" name="Text 7"/>
          <p:cNvSpPr/>
          <p:nvPr/>
        </p:nvSpPr>
        <p:spPr>
          <a:xfrm>
            <a:off x="6465213" y="4554974"/>
            <a:ext cx="7054334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Handling payments securely and in real-time while protecting sensitive financial data.</a:t>
            </a:r>
            <a:endParaRPr lang="en-US" sz="1900" dirty="0"/>
          </a:p>
        </p:txBody>
      </p:sp>
      <p:sp>
        <p:nvSpPr>
          <p:cNvPr id="12" name="Shape 8"/>
          <p:cNvSpPr/>
          <p:nvPr/>
        </p:nvSpPr>
        <p:spPr>
          <a:xfrm>
            <a:off x="6280071" y="5607487"/>
            <a:ext cx="7424618" cy="15240"/>
          </a:xfrm>
          <a:prstGeom prst="roundRect">
            <a:avLst>
              <a:gd name="adj" fmla="val 680400"/>
            </a:avLst>
          </a:prstGeom>
          <a:solidFill>
            <a:srgbClr val="6D4562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6183" y="5653564"/>
            <a:ext cx="6386632" cy="177474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999905" y="6294001"/>
            <a:ext cx="179070" cy="493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850"/>
              </a:lnSpc>
              <a:buNone/>
            </a:pPr>
            <a:r>
              <a:rPr lang="en-US" sz="24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3</a:t>
            </a:r>
            <a:endParaRPr lang="en-US" sz="2400" dirty="0"/>
          </a:p>
        </p:txBody>
      </p:sp>
      <p:sp>
        <p:nvSpPr>
          <p:cNvPr id="15" name="Text 10"/>
          <p:cNvSpPr/>
          <p:nvPr/>
        </p:nvSpPr>
        <p:spPr>
          <a:xfrm>
            <a:off x="7529632" y="5900380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Image Management</a:t>
            </a:r>
            <a:endParaRPr lang="en-US" sz="2150" dirty="0"/>
          </a:p>
        </p:txBody>
      </p:sp>
      <p:sp>
        <p:nvSpPr>
          <p:cNvPr id="16" name="Text 11"/>
          <p:cNvSpPr/>
          <p:nvPr/>
        </p:nvSpPr>
        <p:spPr>
          <a:xfrm>
            <a:off x="7529632" y="6391394"/>
            <a:ext cx="5989915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Managing and delivering images such as food photos and restaurant logos in a fast and optimized manner.</a:t>
            </a:r>
            <a:endParaRPr lang="en-US" sz="1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036" y="630209"/>
            <a:ext cx="12902327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400"/>
              </a:lnSpc>
              <a:buNone/>
            </a:pPr>
            <a:r>
              <a:rPr lang="en-US" sz="430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Future Scope</a:t>
            </a:r>
            <a:endParaRPr lang="en-US" sz="4300" dirty="0"/>
          </a:p>
        </p:txBody>
      </p:sp>
      <p:sp>
        <p:nvSpPr>
          <p:cNvPr id="3" name="Text 1"/>
          <p:cNvSpPr/>
          <p:nvPr/>
        </p:nvSpPr>
        <p:spPr>
          <a:xfrm>
            <a:off x="864037" y="1747624"/>
            <a:ext cx="12902327" cy="1185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0" algn="ctr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IN" sz="2400" kern="100" dirty="0">
                <a:effectLst/>
                <a:latin typeface="Mukta Light" panose="020B0604020202020204" charset="0"/>
                <a:ea typeface="Calibri" panose="020F0502020204030204" pitchFamily="34" charset="0"/>
                <a:cs typeface="Mukta Light" panose="020B0604020202020204" charset="0"/>
              </a:rPr>
              <a:t>Real-time order tracking with location sharing.</a:t>
            </a:r>
          </a:p>
          <a:p>
            <a:pPr lvl="0" algn="ctr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IN" sz="2400" kern="100" dirty="0">
                <a:effectLst/>
                <a:latin typeface="Mukta Light" panose="020B0604020202020204" charset="0"/>
                <a:ea typeface="Calibri" panose="020F0502020204030204" pitchFamily="34" charset="0"/>
                <a:cs typeface="Mukta Light" panose="020B0604020202020204" charset="0"/>
              </a:rPr>
              <a:t>AI-powered menu recommendations based on user preferences.</a:t>
            </a:r>
          </a:p>
          <a:p>
            <a:pPr lvl="0" algn="ctr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IN" sz="2400" kern="100" dirty="0">
                <a:effectLst/>
                <a:latin typeface="Mukta Light" panose="020B0604020202020204" charset="0"/>
                <a:ea typeface="Calibri" panose="020F0502020204030204" pitchFamily="34" charset="0"/>
                <a:cs typeface="Mukta Light" panose="020B0604020202020204" charset="0"/>
              </a:rPr>
              <a:t>Expanding payment options, including cryptocurrency.</a:t>
            </a:r>
          </a:p>
          <a:p>
            <a:pPr marL="0" indent="0">
              <a:lnSpc>
                <a:spcPts val="3100"/>
              </a:lnSpc>
              <a:buNone/>
            </a:pPr>
            <a:endParaRPr lang="en-US" sz="1900" dirty="0"/>
          </a:p>
        </p:txBody>
      </p:sp>
      <p:pic>
        <p:nvPicPr>
          <p:cNvPr id="5" name="Picture 4" descr="Open bags of varieties grain seeds">
            <a:extLst>
              <a:ext uri="{FF2B5EF4-FFF2-40B4-BE49-F238E27FC236}">
                <a16:creationId xmlns:a16="http://schemas.microsoft.com/office/drawing/2014/main" id="{130A8B6D-9BD2-4875-8509-B3AA821B81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8507" y="3892615"/>
            <a:ext cx="5553385" cy="3706776"/>
          </a:xfrm>
          <a:prstGeom prst="rect">
            <a:avLst/>
          </a:prstGeom>
          <a:ln w="190500" cap="sq">
            <a:solidFill>
              <a:srgbClr val="C8C6BD"/>
            </a:solidFill>
            <a:prstDash val="solid"/>
            <a:miter lim="800000"/>
          </a:ln>
          <a:effectLst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">
  <a:themeElements>
    <a:clrScheme name="Slate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Slate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TM04033929[[fn=Slate]]</Template>
  <TotalTime>24</TotalTime>
  <Words>486</Words>
  <Application>Microsoft Office PowerPoint</Application>
  <PresentationFormat>Custom</PresentationFormat>
  <Paragraphs>73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Cascadia Code Light</vt:lpstr>
      <vt:lpstr>Prompt Medium</vt:lpstr>
      <vt:lpstr>Wingdings 2</vt:lpstr>
      <vt:lpstr>Mukta Light</vt:lpstr>
      <vt:lpstr>Calisto MT</vt:lpstr>
      <vt:lpstr>Slate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Hangry Food Delivery Presentation</dc:title>
  <dc:subject>Food delivery application overview</dc:subject>
  <dc:creator>PptxGenJS</dc:creator>
  <cp:lastModifiedBy>Asmit Panigrahi</cp:lastModifiedBy>
  <cp:revision>2</cp:revision>
  <dcterms:created xsi:type="dcterms:W3CDTF">2024-12-14T20:01:04Z</dcterms:created>
  <dcterms:modified xsi:type="dcterms:W3CDTF">2026-08-08T12:57:46Z</dcterms:modified>
</cp:coreProperties>
</file>